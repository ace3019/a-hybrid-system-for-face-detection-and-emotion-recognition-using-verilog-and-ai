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8"/>
  </p:notesMasterIdLst>
  <p:sldIdLst>
    <p:sldId id="257" r:id="rId2"/>
    <p:sldId id="258" r:id="rId3"/>
    <p:sldId id="272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8" r:id="rId12"/>
    <p:sldId id="266" r:id="rId13"/>
    <p:sldId id="267" r:id="rId14"/>
    <p:sldId id="270" r:id="rId15"/>
    <p:sldId id="271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C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AA0D29-4A7A-488A-98FD-9C8C699EAF0F}" v="3" dt="2025-12-11T20:30:30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5627" autoAdjust="0"/>
  </p:normalViewPr>
  <p:slideViewPr>
    <p:cSldViewPr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07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8D9CE-BE25-450C-9696-421A6F2CFD6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19A43-8CC9-4DC1-A7B2-CB122C2BB8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6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0628-BE1A-3732-FF74-2A62F5A2C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04D24-628E-2761-C3C5-D8BE72823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9B7F4-77FD-16AF-FB6F-3F7111B6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62FF4-CD51-4F93-8E61-92DEB762EBD6}" type="datetime1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CBCC-73C0-E236-8ED6-FCCE8D16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8C6F8-A6F1-A897-21CE-A2137A1A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51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4BEB-F200-4478-2DBE-992081D6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4E0A4-8703-2814-D0ED-3A381789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A2D45-E8D0-46F4-CF8A-9CD41789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361C-A450-4D3E-B224-2E6BCA36C0F2}" type="datetime1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E94B1-A9A7-8BED-60F3-A943ADD2B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26F6F-C38A-2BF0-8BE5-94AA631E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76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AE9-5971-3DAA-8503-6F7F8F77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FDADF-FD60-99D1-6400-D26344441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6E246-A645-2D93-A12E-28C23793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8703-58BE-4C5B-B665-9B8C96A5C381}" type="datetime1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F32F2-607A-21BB-0F8E-C92D4AD05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7A628-7572-03AB-440D-2D5D15F9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86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48F9-6CAB-5566-2E74-885FF383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48CB8-77EA-CD57-97FE-F689D4AEE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FADC3-3B85-2CA6-BC58-AE741F58F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16F5D-9A36-C36C-CF56-A630998D6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83B6-CBFF-4832-83DA-23701C066002}" type="datetime1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FC820-6789-5CEC-9C75-50BDAE5C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03172-EA9F-8D13-EEC3-4EFE4475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98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42FA-18F9-189E-5A62-A36B6F96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112C1-C2B6-F913-7272-CFBDB1AA9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A3CB0-CAE5-F2E6-FDB2-00445B21C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F5DDF-864A-3AE5-BEB7-86596829F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5C6D3-792E-D6DD-2B08-C8A16CE27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9FF19-4ACB-4844-544E-1F227EF0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4F30-EC7E-4F74-9276-63AB1BAD2EBF}" type="datetime1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064D9-EDF6-D089-4061-7B6E972E3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DF23E-D547-7408-4C37-54637442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00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F247-49CE-8BDA-9A87-24983FD1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FA16F-2F92-5782-A5BD-5B2A7488F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E1B5-D707-4812-970A-74BCF2E9594D}" type="datetime1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C8A44-342E-87C7-0D75-0BDE6576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11C00-9FEC-31D1-DE40-DA59D0AC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79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5BCFE-2465-9DE3-37CE-9D77AADD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26FB-AC40-466D-ADEF-A09D49A25EDE}" type="datetime1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095DD-4B29-CC95-162C-8E0B2B52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8B3E1-BFEC-4CE6-A53E-3C3710FD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83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76A9-CCDC-95C8-B150-717A4423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406F-D809-47A7-6EFE-5D10846F0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3BDD8-6D10-484B-C682-C55B91C38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40E7A-566D-15BC-CCF4-2C4BB1ED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3163D-86DE-4CBE-815F-42FD88A07CA5}" type="datetime1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DAF65-2B8A-5D69-1E1E-410456FB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69F7B-583E-5198-745F-076C1768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03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95B88-941C-A069-8CB6-B99F4A1C8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EF8AC-B34C-8D25-773E-64698BB20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C11CF-AFF6-05D6-3BAE-C6FBA5C4D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CD0C-F219-6CDB-E98D-D7F3511D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218F-47E3-4E3D-99A9-54C551390ABC}" type="datetime1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00AF7-67EE-B216-4BA9-967828B3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3F706-BE7F-5E26-75F1-7FB2FCBF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59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BED0-904F-F558-0280-FC9F8A5C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E9F6C-5D9B-3E29-DFB4-2FA045099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2EA8F-6265-34ED-8D10-5900E63A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3F96F-F77D-4D3C-8375-ACF137FF0E3D}" type="datetime1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D81A4-3CCD-AC4D-7A55-8A68DA6E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E87F0-EF00-AC40-78AB-77DDE594B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20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FA9998-306F-602B-5DF7-685010684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1B0C9-2691-DB59-9E51-79D64E259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D2BD2-FB80-1C9F-32DD-BEE391A8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78342-F7C2-4091-B76C-924ADA825CF2}" type="datetime1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50917-B1B5-D878-7D24-93B4478B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1B7FF-59FA-EEE8-A1BD-73829629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576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E9066-146B-45ED-8877-A6CD5A2D34B1}" type="datetime1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23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266FF0-075E-19E5-A7BD-3F149E45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4916E-C24C-A2F2-ABE1-C7B8AC79D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EF667-9019-B921-4DDC-D00E87A66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E9066-146B-45ED-8877-A6CD5A2D34B1}" type="datetime1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9D422-A891-386A-E33A-BC0280CD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92D88-BF8C-A2F5-3E92-6125D8C2E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D10CA-A47A-4FF0-8B54-1963FAB2167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2D219E-7CE4-9F17-3623-AC94D06FD64A}"/>
              </a:ext>
            </a:extLst>
          </p:cNvPr>
          <p:cNvSpPr/>
          <p:nvPr userDrawn="1"/>
        </p:nvSpPr>
        <p:spPr>
          <a:xfrm>
            <a:off x="2000251" y="1037944"/>
            <a:ext cx="10191749" cy="36000"/>
          </a:xfrm>
          <a:prstGeom prst="rect">
            <a:avLst/>
          </a:prstGeom>
          <a:solidFill>
            <a:srgbClr val="C00000"/>
          </a:solidFill>
          <a:ln w="12700" cap="rnd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789EDB-9DC4-056E-80F7-A367E809DE0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7328" y="3309"/>
            <a:ext cx="2475191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7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4B55-2B09-AFA4-CF4D-D0EBFDBF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04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No.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224FE-E19C-C2E4-2C4B-88A8DB5ED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572" y="2805986"/>
            <a:ext cx="9662864" cy="40653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System for Face Detection and Emotion Recognition Using Verilog &amp; AI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44272" y="4838644"/>
            <a:ext cx="4032448" cy="271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 Bold"/>
              </a:rPr>
              <a:t>Group Member Names &amp; SID: </a:t>
            </a:r>
          </a:p>
          <a:p>
            <a:pPr>
              <a:lnSpc>
                <a:spcPts val="3600"/>
              </a:lnSpc>
            </a:pP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Suryadipta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Ghosh  (23111001) </a:t>
            </a:r>
          </a:p>
          <a:p>
            <a:pPr algn="l">
              <a:lnSpc>
                <a:spcPts val="3600"/>
              </a:lnSpc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Shashvat Mishra    (23111023) </a:t>
            </a:r>
          </a:p>
          <a:p>
            <a:pPr algn="l">
              <a:lnSpc>
                <a:spcPts val="3600"/>
              </a:lnSpc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Pratyush Kumar     (23111024) </a:t>
            </a:r>
          </a:p>
          <a:p>
            <a:pPr algn="l">
              <a:lnSpc>
                <a:spcPts val="3600"/>
              </a:lnSpc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l">
              <a:lnSpc>
                <a:spcPts val="3600"/>
              </a:lnSpc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05B18-18FE-06D5-91F4-6D5F3056211D}"/>
              </a:ext>
            </a:extLst>
          </p:cNvPr>
          <p:cNvSpPr txBox="1"/>
          <p:nvPr/>
        </p:nvSpPr>
        <p:spPr>
          <a:xfrm>
            <a:off x="263352" y="5733256"/>
            <a:ext cx="6288504" cy="864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 Bold"/>
              </a:rPr>
              <a:t>Supervisor(s) Name:</a:t>
            </a:r>
          </a:p>
          <a:p>
            <a:pPr algn="l">
              <a:lnSpc>
                <a:spcPts val="3240"/>
              </a:lnSpc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Dr.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Sukhwinder Singh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443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ED83-A664-3E52-F914-42C239A2F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B932F2-79CD-A36F-D96F-F8A15B5114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6536" y="1484784"/>
            <a:ext cx="1023892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emotion recognition is needed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areas like driver safety, healthcare, and surveillance, where systems must understand emotions quickly and reliably from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facial images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Software-only AI models (CNN/LSTM)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accurate but slow and power-hungry, making them unsuitable for real-time use on small embedded devices. Research shows they need hardware acceleration to work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FPGAs are ideal for this 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because they offer low latency, parallel processing, and low power consumption — allowing deep learning models like CLDNN (CNN + LSTM) to run fast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 our Verilog face detector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(skin detection, integral image, Haar cascade) with the Hardware-based CLDNN model gives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hybrid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detects faces in hardware and recognizes emotions with high accuracy, similar to the research paper results</a:t>
            </a:r>
          </a:p>
        </p:txBody>
      </p:sp>
    </p:spTree>
    <p:extLst>
      <p:ext uri="{BB962C8B-B14F-4D97-AF65-F5344CB8AC3E}">
        <p14:creationId xmlns:p14="http://schemas.microsoft.com/office/powerpoint/2010/main" val="15645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0A41-8989-4F7F-2D9D-070E4097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Paper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0EADB-4BE3-DE6F-5E09-44C81831E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Pan, S.-T.; Wu, H.-J. FPGA Chip Design of Sensors for Emotion Detection Based on Consecutive Facial Images by Combining CNN and LSTM. Electronics 2025, 14, 3250. 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https://doi.org/10.3390/electronics14163250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01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76C6E-3F6D-5E8B-03AA-917092EB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29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</a:t>
            </a:r>
          </a:p>
        </p:txBody>
      </p:sp>
      <p:pic>
        <p:nvPicPr>
          <p:cNvPr id="9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DD291D5E-C4D9-F583-4969-6396588FE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352260"/>
            <a:ext cx="10297962" cy="4153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BD95B4-A157-508E-7421-1C2BE737B050}"/>
              </a:ext>
            </a:extLst>
          </p:cNvPr>
          <p:cNvSpPr txBox="1"/>
          <p:nvPr/>
        </p:nvSpPr>
        <p:spPr>
          <a:xfrm>
            <a:off x="3381017" y="5538137"/>
            <a:ext cx="58510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of Emotion Classifier using Verilog and AI 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(</a:t>
            </a:r>
            <a:r>
              <a:rPr lang="en-IN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research paper)</a:t>
            </a:r>
          </a:p>
        </p:txBody>
      </p:sp>
    </p:spTree>
    <p:extLst>
      <p:ext uri="{BB962C8B-B14F-4D97-AF65-F5344CB8AC3E}">
        <p14:creationId xmlns:p14="http://schemas.microsoft.com/office/powerpoint/2010/main" val="6669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A730-897E-C394-6902-B414BAA9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383CB-3D99-F5DB-2CEF-E3CF391F5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8965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1.Face Detection using Verilog</a:t>
            </a:r>
          </a:p>
          <a:p>
            <a:pPr marL="0" indent="0">
              <a:buNone/>
            </a:pP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 (Python)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parse_cascade.py → Parses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 Haar Cascade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XML files into Verilog-compatible .mem format.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prepare_test_images.py → Converts standard images into 64×64 grayscale hex files for simulation.</a:t>
            </a:r>
          </a:p>
          <a:p>
            <a:pPr marL="0" indent="0">
              <a:buNone/>
            </a:pPr>
            <a:r>
              <a:rPr lang="en-IN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Hardware Components (Verilog)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Integral Image Module – Computes pixel-sum representation for fast feature extraction.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Calculation Module – Evaluates Haar-like features over detection windows.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Cascade Stage Evaluation Module – Implements multi-stage classification for accurate detection.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 FSM (</a:t>
            </a:r>
            <a:r>
              <a:rPr lang="en-IN" sz="2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control_fsm.v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– Coordinates the entire detection pipeline, managing data flow and stage transitions.</a:t>
            </a:r>
          </a:p>
          <a:p>
            <a:pPr marL="0" indent="0">
              <a:buNone/>
            </a:pPr>
            <a:r>
              <a:rPr lang="en-IN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&amp; Verification</a:t>
            </a:r>
          </a:p>
          <a:p>
            <a:pPr lvl="0"/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using Icarus Verilog for logic simulation and </a:t>
            </a:r>
            <a:r>
              <a:rPr lang="en-IN" sz="3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GTKWave</a:t>
            </a:r>
            <a:r>
              <a:rPr lang="en-I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waveform analysis.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418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's face with a face deletion&#10;&#10;AI-generated content may be incorrect.">
            <a:extLst>
              <a:ext uri="{FF2B5EF4-FFF2-40B4-BE49-F238E27FC236}">
                <a16:creationId xmlns:a16="http://schemas.microsoft.com/office/drawing/2014/main" id="{B31B06F9-B14A-D3FF-E36A-70EE9B9BD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40" y="1194549"/>
            <a:ext cx="6774370" cy="4176464"/>
          </a:xfrm>
          <a:prstGeom prst="rect">
            <a:avLst/>
          </a:prstGeom>
        </p:spPr>
      </p:pic>
      <p:pic>
        <p:nvPicPr>
          <p:cNvPr id="6" name="Content Placeholder 4" descr="A diagram of a flowchart&#10;&#10;AI-generated content may be incorrect.">
            <a:extLst>
              <a:ext uri="{FF2B5EF4-FFF2-40B4-BE49-F238E27FC236}">
                <a16:creationId xmlns:a16="http://schemas.microsoft.com/office/drawing/2014/main" id="{38B04C35-D622-1F92-990A-EB14E72A3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07"/>
          <a:stretch>
            <a:fillRect/>
          </a:stretch>
        </p:blipFill>
        <p:spPr>
          <a:xfrm>
            <a:off x="6600056" y="1354249"/>
            <a:ext cx="5407135" cy="385706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C3F8A30-30F9-9F4A-585D-AE9A746D9928}"/>
              </a:ext>
            </a:extLst>
          </p:cNvPr>
          <p:cNvSpPr/>
          <p:nvPr/>
        </p:nvSpPr>
        <p:spPr>
          <a:xfrm>
            <a:off x="7003907" y="5427373"/>
            <a:ext cx="4599432" cy="238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Verilog Face-Detection Architecture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FA950-00E3-79D3-BA1B-66071C6732FB}"/>
              </a:ext>
            </a:extLst>
          </p:cNvPr>
          <p:cNvSpPr txBox="1"/>
          <p:nvPr/>
        </p:nvSpPr>
        <p:spPr>
          <a:xfrm>
            <a:off x="1847528" y="5427373"/>
            <a:ext cx="2438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CV Model </a:t>
            </a: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(ref from research paper)</a:t>
            </a:r>
          </a:p>
        </p:txBody>
      </p:sp>
    </p:spTree>
    <p:extLst>
      <p:ext uri="{BB962C8B-B14F-4D97-AF65-F5344CB8AC3E}">
        <p14:creationId xmlns:p14="http://schemas.microsoft.com/office/powerpoint/2010/main" val="1079427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7A3F-7BB7-23BC-1807-BDEF8095A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712" y="0"/>
            <a:ext cx="6894576" cy="969264"/>
          </a:xfrm>
        </p:spPr>
        <p:txBody>
          <a:bodyPr anchor="b"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&amp;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DFD4A-6B37-F5BE-955E-9262D0056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64" y="1367028"/>
            <a:ext cx="6894576" cy="412394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comprehensive testbench (using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Icarus Verilog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GTKWave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was implemented to drive the design with batch simulation scripts against a library of images, proving robustness.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simulation successfully validated the functionality of the complete Verilog design on prepared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64x64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 images.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Utilized the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CelebA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face dataset for extensive validation.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3DF9B-6F89-075A-05DD-3EB3EA702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1700808"/>
            <a:ext cx="4032448" cy="5040560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D04E053-9D43-036D-2C30-B3082B5A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9" y="3429000"/>
            <a:ext cx="6808447" cy="342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1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64B4-7F3F-34E7-8235-668CF019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7BC7B-1E19-ADE5-AC03-DED2A07B8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50405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Selection of AI Model: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Mini-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Xception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lightweight version of the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Xception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architecture, optimized specifically for Facial Emotion Recognition (FER).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heavy CNNs, it uses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Depthwise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Separable Convolutions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drastically reduce computational cost while maintaining good accuracy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Task: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takes a grayscale image of a face and classifies it into one of seven emotions: Angry, Disgust, Fear, Happy, Sad, Surprise, Neutral.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model ?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High Accuracy with an Extremely Small Model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~68–70% FER-2013 accuracy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excellent performance on emotions like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Happy (93%)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Neutral (82%)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lightweight: only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~60k parameters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2.8 MB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ideal for embedded and real-time systems.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Fast and Efficient for Hardware–Software Co-Simulation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Depthwise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Separable Convolutions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drastically reducing computation and increasing speed.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in real time on low-power devices (Raspberry Pi, Jetson Nano), making it perfect for integration with our (hardware+ software) pipeline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05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AC95-12A0-B991-6683-F42D18BF0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of model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E9AC908-7C03-BFD3-8B27-F8FAA2F00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7888" y="1268760"/>
            <a:ext cx="6993777" cy="49685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DC4BB0-6F37-147D-5E27-548B90A9E3C0}"/>
              </a:ext>
            </a:extLst>
          </p:cNvPr>
          <p:cNvSpPr txBox="1"/>
          <p:nvPr/>
        </p:nvSpPr>
        <p:spPr>
          <a:xfrm>
            <a:off x="335360" y="1253607"/>
            <a:ext cx="424847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Depthwise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Separable Convolution: </a:t>
            </a:r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Depthwise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Convolution:</a:t>
            </a: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input channel is filtered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separately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its own small kernel (as shown in the image).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extracts spatial features like edges and textures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mixing channels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Pointwise Convolution (1×1 Conv):</a:t>
            </a: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1×1 filter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then applied to combine all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depthwise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outputs.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mixes information across channels and produces the final feature maps.</a:t>
            </a:r>
          </a:p>
        </p:txBody>
      </p:sp>
    </p:spTree>
    <p:extLst>
      <p:ext uri="{BB962C8B-B14F-4D97-AF65-F5344CB8AC3E}">
        <p14:creationId xmlns:p14="http://schemas.microsoft.com/office/powerpoint/2010/main" val="98651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DC3D-B104-0BE5-2235-0A46BAB5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084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2323-E1C7-CA9B-A30E-5971E5CD0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760"/>
            <a:ext cx="9374832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Verilog Testbench Reads .mem → Runs Face Detection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readmemh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loads the OpenCV-generated .mem image into Verilog memory.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face-detection pipeline (preprocessing → segmentation → integral image → Haar/cascade) processes this input.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Verilog Writes Cropped Face to New .mem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detecting the face, Verilog uses $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writememh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save the cropped grayscale face into a new .mem file.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output .mem becomes the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→ software handoff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the AI model.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Python AI Model Reads .mem → Preprocess → Predict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loads the Verilog-generated .mem, reshapes and normalizes it.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 model (Mini-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Xception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runs inference and outputs the predicted emotion.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45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7A363-8B86-A4D2-364F-9B70C97F8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54" t="4109" r="1654" b="2740"/>
          <a:stretch>
            <a:fillRect/>
          </a:stretch>
        </p:blipFill>
        <p:spPr>
          <a:xfrm>
            <a:off x="5795655" y="1323150"/>
            <a:ext cx="6277009" cy="35460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584DA4-9F40-87D5-BECC-38104754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548680"/>
            <a:ext cx="5629072" cy="547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0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76F1-80A0-4680-5980-C7916982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83" y="8021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C26C59-3243-A46F-68CE-A9890FB50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7" t="49306" r="24906" b="18306"/>
          <a:stretch>
            <a:fillRect/>
          </a:stretch>
        </p:blipFill>
        <p:spPr>
          <a:xfrm>
            <a:off x="5679483" y="1233597"/>
            <a:ext cx="6264696" cy="24114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41AF2A-F288-287F-1406-8B3B63C64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2" t="35874" r="26787" b="34264"/>
          <a:stretch>
            <a:fillRect/>
          </a:stretch>
        </p:blipFill>
        <p:spPr>
          <a:xfrm>
            <a:off x="5665348" y="3861048"/>
            <a:ext cx="6292966" cy="2274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EBBD71-690A-71DC-9ECE-A2E005CC6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687" y="4059165"/>
            <a:ext cx="1695450" cy="2076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721AF6-47F6-E166-5ED7-96C8504746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1470406"/>
            <a:ext cx="16954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3415-39AC-DDFB-8491-65FC4AC3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2024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BA9F5-5FFF-50E1-E889-117A01589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334" y="1268759"/>
            <a:ext cx="1756970" cy="215179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07AB8D-C750-5CF7-F4E1-E4A35CAFD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81" t="35538" r="26181" b="33080"/>
          <a:stretch>
            <a:fillRect/>
          </a:stretch>
        </p:blipFill>
        <p:spPr>
          <a:xfrm>
            <a:off x="5804909" y="1236971"/>
            <a:ext cx="6348495" cy="2408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37B953-B85C-B829-AD0D-DC2D3681D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334" y="3861048"/>
            <a:ext cx="1756970" cy="21517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1D2C67-1FD4-4175-B621-54357335CB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5" t="35887" r="27117" b="32150"/>
          <a:stretch>
            <a:fillRect/>
          </a:stretch>
        </p:blipFill>
        <p:spPr>
          <a:xfrm>
            <a:off x="5789810" y="3789040"/>
            <a:ext cx="6273194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41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30E0-AEC6-E8B2-F5F7-04C8124E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2820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-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708D-A554-8795-8AB4-7F0E6E1B6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9685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Baby Emotion &amp; Cry Detection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emotions such as discomfort, hunger, or distress in infants—useful for smart baby monitors and early-alert systems.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Driver Monitoring Systems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driver fatigue, stress, or distraction in real time to enhance road safety.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Smart Surveillance &amp; Security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Recognizes unusual emotional behavior, improving threat detection and monitoring in public spaces.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Human–Computer Interaction (HCI)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emotion-aware applications such as adaptive learning platforms, virtual assistants, and customer service robots.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Healthcare &amp; Assistive Technologies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Monitors patient emotional state, stress levels, or depression indicators for improved clinical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542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F3F1-6020-6EEA-C71B-61E4D0EEF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63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93EC9-7E8C-F5F2-E03C-28A2BCC8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50405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FPGA Deployment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the Verilog detection pipeline on FPGA boards to measure hardware accuracy, stability, and resource utilization.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On-Chip AI Acceleration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Mini-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Xception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a quantized CNN accelerator so emotion recognition can run fully on FPGA or SoC hardware.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Enhanced Hardware Architecture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advanced face detection blocks (lightweight CNNs, multi-scale scanning,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depthwise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-convolution units) for higher accuracy and robustness.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ASIC / Chip-Level Integration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specialized low-power chip combining detection + emotion classification for applications like baby monitors, security devices, and wearable electronics.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351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8CC7-F00A-BD8B-D495-4057B283E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996952"/>
            <a:ext cx="10972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39402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13594</TotalTime>
  <Words>1078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Group No. 2</vt:lpstr>
      <vt:lpstr>Motivation</vt:lpstr>
      <vt:lpstr>Reference Paper</vt:lpstr>
      <vt:lpstr>Architecture</vt:lpstr>
      <vt:lpstr>Methodology</vt:lpstr>
      <vt:lpstr>PowerPoint Presentation</vt:lpstr>
      <vt:lpstr>Results &amp; Verification</vt:lpstr>
      <vt:lpstr>AI Model</vt:lpstr>
      <vt:lpstr>Working of model</vt:lpstr>
      <vt:lpstr>Integration</vt:lpstr>
      <vt:lpstr>PowerPoint Presentation</vt:lpstr>
      <vt:lpstr>Results </vt:lpstr>
      <vt:lpstr>Results</vt:lpstr>
      <vt:lpstr>Use - Cases</vt:lpstr>
      <vt:lpstr>Future Work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arun.singh@postgrad.manchester.ac.uk</dc:creator>
  <cp:lastModifiedBy>Pratyush Kumar</cp:lastModifiedBy>
  <cp:revision>198</cp:revision>
  <dcterms:created xsi:type="dcterms:W3CDTF">2015-02-11T02:43:17Z</dcterms:created>
  <dcterms:modified xsi:type="dcterms:W3CDTF">2025-12-12T01:57:42Z</dcterms:modified>
</cp:coreProperties>
</file>